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1755648" cy="1005840"/>
          </a:xfrm>
          <a:prstGeom prst="rect">
            <a:avLst/>
          </a:prstGeom>
          <a:solidFill>
            <a:srgbClr val="241A10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5029200"/>
            <a:ext cx="1755648" cy="1828800"/>
          </a:xfrm>
          <a:prstGeom prst="rect">
            <a:avLst/>
          </a:prstGeom>
          <a:solidFill>
            <a:srgbClr val="2A1E12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5486400"/>
            <a:ext cx="1755648" cy="1371600"/>
          </a:xfrm>
          <a:prstGeom prst="rect">
            <a:avLst/>
          </a:prstGeom>
          <a:solidFill>
            <a:srgbClr val="241A10"/>
          </a:solidFill>
          <a:ln/>
        </p:spPr>
      </p:sp>
      <p:sp>
        <p:nvSpPr>
          <p:cNvPr id="5" name="Shape 3"/>
          <p:cNvSpPr/>
          <p:nvPr/>
        </p:nvSpPr>
        <p:spPr>
          <a:xfrm>
            <a:off x="5212080" y="4480560"/>
            <a:ext cx="1755648" cy="2377440"/>
          </a:xfrm>
          <a:prstGeom prst="rect">
            <a:avLst/>
          </a:prstGeom>
          <a:solidFill>
            <a:srgbClr val="2A1E12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0" y="5212080"/>
            <a:ext cx="1755648" cy="1645920"/>
          </a:xfrm>
          <a:prstGeom prst="rect">
            <a:avLst/>
          </a:prstGeom>
          <a:solidFill>
            <a:srgbClr val="241A10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0" y="4754880"/>
            <a:ext cx="1755648" cy="2103120"/>
          </a:xfrm>
          <a:prstGeom prst="rect">
            <a:avLst/>
          </a:prstGeom>
          <a:solidFill>
            <a:srgbClr val="2A1E12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5669280"/>
            <a:ext cx="1755648" cy="1188720"/>
          </a:xfrm>
          <a:prstGeom prst="rect">
            <a:avLst/>
          </a:prstGeom>
          <a:solidFill>
            <a:srgbClr val="241A1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640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E7C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غرميش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7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Gharmish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841248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the real Saudi Arabia.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1248" y="379476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Arabic-first marketplace where local hosts sell unique experiences —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 nights, Aseeri coffee, coastal dives, cooking classes — and travelers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in two taps, paying with mada or Apple Pay.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·  gharmish.com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opened to tourism. The supply of experiences didn't.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73152" cy="1691640"/>
          </a:xfrm>
          <a:prstGeom prst="rect">
            <a:avLst/>
          </a:prstGeom>
          <a:solidFill>
            <a:srgbClr val="B4552F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2377440"/>
            <a:ext cx="640080" cy="64008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514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without rails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965960" y="277063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targets 100M+ visitors — but “things to do” live in Instagram DMs and WhatsApp groups.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205740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057400"/>
            <a:ext cx="73152" cy="1691640"/>
          </a:xfrm>
          <a:prstGeom prst="rect">
            <a:avLst/>
          </a:prstGeom>
          <a:solidFill>
            <a:srgbClr val="B4552F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0528" y="2377440"/>
            <a:ext cx="640080" cy="64008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5146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Hosts have no channel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360920" y="277063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and activity operators can’t reach guests, take card payments, or build a reputation online.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2960" y="40690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069080"/>
            <a:ext cx="73152" cy="1691640"/>
          </a:xfrm>
          <a:prstGeom prst="rect">
            <a:avLst/>
          </a:prstGeom>
          <a:solidFill>
            <a:srgbClr val="B4552F"/>
          </a:solidFill>
          <a:ln/>
        </p:spPr>
      </p:sp>
      <p:sp>
        <p:nvSpPr>
          <p:cNvPr id="19" name="Shape 15"/>
          <p:cNvSpPr/>
          <p:nvPr/>
        </p:nvSpPr>
        <p:spPr>
          <a:xfrm>
            <a:off x="1115568" y="4389120"/>
            <a:ext cx="640080" cy="64008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45262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Guests can’t discover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965960" y="47823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find, compare, and book authentic activities — in Arabic, in SAR, with mada.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17920" y="40690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17920" y="4069080"/>
            <a:ext cx="73152" cy="1691640"/>
          </a:xfrm>
          <a:prstGeom prst="rect">
            <a:avLst/>
          </a:prstGeom>
          <a:solidFill>
            <a:srgbClr val="B4552F"/>
          </a:solidFill>
          <a:ln/>
        </p:spPr>
      </p:sp>
      <p:sp>
        <p:nvSpPr>
          <p:cNvPr id="25" name="Shape 20"/>
          <p:cNvSpPr/>
          <p:nvPr/>
        </p:nvSpPr>
        <p:spPr>
          <a:xfrm>
            <a:off x="6510528" y="4389120"/>
            <a:ext cx="640080" cy="64008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5262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092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apps aren’t local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360920" y="47823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/ GetYourGuide: no Arabic-first RTL, no mada, thin Saudi inventory, no cultural fit.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45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market, the payments, and the audience all arrived. The localized rails to serve them haven’t been built — yet.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marketplace for booking experiences in the Kingdom.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429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3429000" cy="109728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560320"/>
            <a:ext cx="822960" cy="82296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77063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520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Guests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88720" y="40690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book → pay in minutes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Arabic / English, true RTL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in SAR; mada, Apple Pay &amp; cards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verified hosts you can trust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0" y="2148840"/>
            <a:ext cx="3429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148840"/>
            <a:ext cx="3429000" cy="109728"/>
          </a:xfrm>
          <a:prstGeom prst="rect">
            <a:avLst/>
          </a:prstGeom>
          <a:solidFill>
            <a:srgbClr val="B4552F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2560320"/>
            <a:ext cx="822960" cy="822960"/>
          </a:xfrm>
          <a:prstGeom prst="ellipse">
            <a:avLst/>
          </a:prstGeom>
          <a:solidFill>
            <a:srgbClr val="B4552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27706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3520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Hosts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937760" y="40690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 experience in a guided flow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availability, price &amp; group size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verified with KYC onboarding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bookings and payouts online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321040" y="2148840"/>
            <a:ext cx="34290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2148840"/>
            <a:ext cx="3429000" cy="109728"/>
          </a:xfrm>
          <a:prstGeom prst="rect">
            <a:avLst/>
          </a:prstGeom>
          <a:solidFill>
            <a:srgbClr val="6E7F5B"/>
          </a:solidFill>
          <a:ln/>
        </p:spPr>
      </p:sp>
      <p:sp>
        <p:nvSpPr>
          <p:cNvPr id="19" name="Shape 15"/>
          <p:cNvSpPr/>
          <p:nvPr/>
        </p:nvSpPr>
        <p:spPr>
          <a:xfrm>
            <a:off x="8641080" y="2560320"/>
            <a:ext cx="822960" cy="822960"/>
          </a:xfrm>
          <a:prstGeom prst="ellipse">
            <a:avLst/>
          </a:prstGeom>
          <a:solidFill>
            <a:srgbClr val="6E7F5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277063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41080" y="3520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Platform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686800" y="40690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instrumented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reputation graph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analytics end-to-end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compounds — the flywheel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place. Two taps. Built for how Saudi actually pays and reads.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7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tailwinds converged at once.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074920" cy="1600200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377440"/>
            <a:ext cx="777240" cy="77724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5603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2030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0" y="27157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push to make Saudi a global destination. Experiences are the highest-margin, most under-supplied layer.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5074920" cy="1600200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377440"/>
            <a:ext cx="777240" cy="77724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5603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Payments matured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52360" y="27157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mada, Apple Pay and local gateways (HyperPay) make online booking frictionless for the domestic majority.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977640"/>
            <a:ext cx="5074920" cy="1600200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97280" y="4297680"/>
            <a:ext cx="777240" cy="77724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4805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740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 nation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57400" y="46360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world’s highest smartphone &amp; social penetration. Discovery already happens online.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3977640"/>
            <a:ext cx="5074920" cy="1600200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4297680"/>
            <a:ext cx="777240" cy="77724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4805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Tourism rising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52360" y="46360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Nationals rediscovering AlUla, Aseer and the coast; inbound visitors arriving on new e-visas.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today — not a mockup.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41248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gharmish-weld.vercel.app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8992" y="2423160"/>
            <a:ext cx="548640" cy="54864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5420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83080" y="27706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category browse, search, city coverage, keyless map view.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0" y="21488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28032" y="2423160"/>
            <a:ext cx="548640" cy="54864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54203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 detail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7706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Gallery, AR/EN toggle, host card, reviews, availability, price calc.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321040" y="214884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77072" y="2423160"/>
            <a:ext cx="548640" cy="54864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54203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flow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281160" y="27706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→ guests → details → pay (card + Apple Pay) → confirmation.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22960" y="384048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78992" y="4114800"/>
            <a:ext cx="548640" cy="54864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423367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4096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 dashboard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783080" y="44622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 listings, photo upload, availability, earnings, KYC.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72000" y="384048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828032" y="4114800"/>
            <a:ext cx="548640" cy="54864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4233672"/>
            <a:ext cx="310896" cy="3108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32120" y="4096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5532120" y="44622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queue, catalog &amp; cities, health metrics, funnel analytics.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321040" y="384048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577072" y="4114800"/>
            <a:ext cx="548640" cy="54864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4" y="4233672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281160" y="4096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tax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9281160" y="446227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Verified-host surfaces, ZATCA-ready receipts/QR, VAT toggle.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bilingual, mobile-first, on the Saudi-sand brand palette.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Reputation, availability &amp; payments on one set of rails.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2926080"/>
            <a:ext cx="914400" cy="91440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313639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 lists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44348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photos, map pin, price in SAR. Passes KYC.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37485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2960370" y="265176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86150" y="2926080"/>
            <a:ext cx="914400" cy="91440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462" y="313639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70098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05181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discovers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097530" y="44348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city, category, price or date; compare by rating.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74895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5097780" y="265176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623560" y="2926080"/>
            <a:ext cx="914400" cy="91440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3136392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07508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518922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&amp; pay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234940" y="44348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 / Apple Pay / card. Instant confirmation + receipt.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012305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26" name="Shape 21"/>
          <p:cNvSpPr/>
          <p:nvPr/>
        </p:nvSpPr>
        <p:spPr>
          <a:xfrm>
            <a:off x="7235190" y="265176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60970" y="2926080"/>
            <a:ext cx="914400" cy="91440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282" y="3136392"/>
            <a:ext cx="493776" cy="49377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44918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732663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&amp; review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7372350" y="44348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runs the experience; guest leaves a review.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9149715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800" dirty="0"/>
          </a:p>
        </p:txBody>
      </p:sp>
      <p:sp>
        <p:nvSpPr>
          <p:cNvPr id="33" name="Shape 27"/>
          <p:cNvSpPr/>
          <p:nvPr/>
        </p:nvSpPr>
        <p:spPr>
          <a:xfrm>
            <a:off x="9372600" y="265176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898380" y="2926080"/>
            <a:ext cx="914400" cy="91440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8692" y="3136392"/>
            <a:ext cx="493776" cy="49377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482328" y="2761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0"/>
          <p:cNvSpPr/>
          <p:nvPr/>
        </p:nvSpPr>
        <p:spPr>
          <a:xfrm>
            <a:off x="946404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earn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9509760" y="44348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each booking; payout settled to host.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make money when hosts do.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931920" cy="3749040"/>
          </a:xfrm>
          <a:prstGeom prst="rect">
            <a:avLst/>
          </a:prstGeom>
          <a:solidFill>
            <a:srgbClr val="1C140C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3931920" cy="109728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C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TAKE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7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15–20%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1097280" y="44348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every confirmed booking. Zero inventory risk — revenue scales directly with GMV.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74920" y="2148840"/>
            <a:ext cx="6263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340864"/>
            <a:ext cx="457200" cy="45720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244144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0" y="227685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commission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943600" y="25877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line — a cut of each booking.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3136392"/>
            <a:ext cx="6263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03520" y="3328416"/>
            <a:ext cx="457200" cy="45720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3429000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43600" y="326440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VAT-ready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943600" y="35753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VAT-inclusive pricing built in; collection switches on at the ZATCA SAR 375K threshold.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74920" y="4123944"/>
            <a:ext cx="6263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03520" y="4315968"/>
            <a:ext cx="457200" cy="45720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441655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943600" y="42519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Featured placement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943600" y="45628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pay to promote listings and boost visibility.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074920" y="5111496"/>
            <a:ext cx="6263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303520" y="5303520"/>
            <a:ext cx="457200" cy="45720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54041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43600" y="52395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SKUs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5943600" y="55504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fees and upsells as the marketplace scales.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insert real take-rate &amp; pricing assumptions for the raise.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share of experience bookings is a large business.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15600" cy="1143000"/>
          </a:xfrm>
          <a:prstGeom prst="rect">
            <a:avLst/>
          </a:prstGeom>
          <a:solidFill>
            <a:srgbClr val="EFE4D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3591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651760" y="233172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tourism spend under Vision 2030 — 100M+ visitors targeted, tourism a double-digit share of GDP.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7955280" cy="1143000"/>
          </a:xfrm>
          <a:prstGeom prst="rect">
            <a:avLst/>
          </a:prstGeom>
          <a:solidFill>
            <a:srgbClr val="E7C173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6850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36576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bookable experiences &amp; activities slice of that spend — domestic + inbound.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5394960" cy="1143000"/>
          </a:xfrm>
          <a:prstGeom prst="rect">
            <a:avLst/>
          </a:prstGeom>
          <a:solidFill>
            <a:srgbClr val="D8A039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501091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49834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experiences booked through Gharmish across launch cities (Riyadh, Jeddah, Aseer, AlUla, coast).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need a large share of tourism — just a share of experience bookings. Insert sourced Ministry of Tourism figures for the raise.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 done right is the moat.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3931920" y="2194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RTL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06440" y="2194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 / Apple Pay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0" y="2194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inventory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555480" y="21945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tooling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10607040" cy="694944"/>
          </a:xfrm>
          <a:prstGeom prst="rect">
            <a:avLst/>
          </a:prstGeom>
          <a:solidFill>
            <a:srgbClr val="1C140C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34640"/>
            <a:ext cx="91440" cy="694944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834640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Gharmish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283464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C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806440" y="283464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C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80960" y="283464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C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55480" y="283464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C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" y="3639312"/>
            <a:ext cx="10607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639312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 Experiences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3639312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06440" y="3639312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80960" y="3639312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55480" y="3639312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22960" y="4443984"/>
            <a:ext cx="10607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443984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GetYourGuide / Viator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31920" y="4443984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06440" y="4443984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80960" y="4443984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55480" y="4443984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22960" y="5248656"/>
            <a:ext cx="106070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248656"/>
            <a:ext cx="2834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Instagram / WhatsApp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931920" y="5248656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06440" y="5248656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80960" y="5248656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555480" y="5248656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moat: language, payments, culture and tax done right — plus a two-sided reputation graph the global players won’t localize.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7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product, real infrastructure, pre-launch.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2514600" cy="1554480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2514600" cy="914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134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shipped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057400"/>
            <a:ext cx="2514600" cy="1554480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057400"/>
            <a:ext cx="2514600" cy="914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3134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AR/EN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57600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RTL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057400"/>
            <a:ext cx="2514600" cy="1554480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057400"/>
            <a:ext cx="2514600" cy="914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3134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92240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Postgres,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2057400"/>
            <a:ext cx="2514600" cy="1554480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2057400"/>
            <a:ext cx="2514600" cy="914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23134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ZATCA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326880" y="30815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tax-ready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977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7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343400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integrated on HyperPay (card + Apple Pay)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Verified-host trust surfaces + reviews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health metrics + funnel analytics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(OTP), live Postgres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977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(HUMAN-GATED)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3434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payment go-live (gateway domain reg.)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provider for production OTP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/ VAT registration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of terms &amp; privacy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first, city by city.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377440"/>
            <a:ext cx="777240" cy="77724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5603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331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one city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103120" y="2743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critical host mass in a city where experiences ARE the trip — Aseer or AlUla — before opening the next.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205740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0528" y="2377440"/>
            <a:ext cx="777240" cy="777240"/>
          </a:xfrm>
          <a:prstGeom prst="ellipse">
            <a:avLst/>
          </a:prstGeom>
          <a:solidFill>
            <a:srgbClr val="B455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5603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317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hero categories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98080" y="2743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Desert, coffee &amp; culture, coast, food, and a differentiated women-only category we already ship.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40690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15568" y="4389120"/>
            <a:ext cx="777240" cy="777240"/>
          </a:xfrm>
          <a:prstGeom prst="ellipse">
            <a:avLst/>
          </a:prstGeom>
          <a:solidFill>
            <a:srgbClr val="6E7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572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demand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2103120" y="47548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 Snap/TikTok pixels, SEO + structured data (built), and tourism-body / hotel partnerships.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0690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0528" y="4389120"/>
            <a:ext cx="777240" cy="77724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5720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Spin the flywheel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498080" y="47548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hosts + reviews → higher conversion → more hosts. Repeat the playbook per city.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Deepen the moat per city before widening the map.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Deepen, then widen.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3429000" cy="68580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4086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0632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Live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37033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booking &amp; payments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+ admin dashboards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/ English throughout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194560"/>
            <a:ext cx="3429000" cy="685800"/>
          </a:xfrm>
          <a:prstGeom prst="rect">
            <a:avLst/>
          </a:prstGeom>
          <a:solidFill>
            <a:srgbClr val="B4552F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34086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30632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7033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at scale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host ↔ guest messaging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notifications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+ payout tracking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219456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94560"/>
            <a:ext cx="3429000" cy="685800"/>
          </a:xfrm>
          <a:prstGeom prst="rect">
            <a:avLst/>
          </a:prstGeom>
          <a:solidFill>
            <a:srgbClr val="6E7F5B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234086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41080" y="30632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0" y="37033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admin analytics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/ referral program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GCC / MENA cities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phase deepens the moat before widening the map.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lean, shipped to production.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2514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560320"/>
            <a:ext cx="1097280" cy="109728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816352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/ CEO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4251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product, marketplace, Saudi market]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0" y="2194560"/>
            <a:ext cx="2514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6260" y="2560320"/>
            <a:ext cx="1097280" cy="109728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92" y="2816352"/>
            <a:ext cx="585216" cy="585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 / Engineering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840480" y="4251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full-stack, payments, infra]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92240" y="2194560"/>
            <a:ext cx="2514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00900" y="2560320"/>
            <a:ext cx="1097280" cy="109728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2816352"/>
            <a:ext cx="585216" cy="5852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/ Operations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675120" y="4251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[background: host supply, local partnerships]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326880" y="2194560"/>
            <a:ext cx="2514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E4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35540" y="2560320"/>
            <a:ext cx="1097280" cy="1097280"/>
          </a:xfrm>
          <a:prstGeom prst="ellipse">
            <a:avLst/>
          </a:prstGeom>
          <a:solidFill>
            <a:srgbClr val="F4E7D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2" y="2816352"/>
            <a:ext cx="585216" cy="5852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6404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0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509760" y="4251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[tourism, payments, regulatory]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modern Next.js / Supabase stack, shipped to production by a small team — capital-efficient by design.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411480" cy="320040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A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7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to go live and win the first city.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931920" cy="3749040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48840"/>
            <a:ext cx="3931920" cy="109728"/>
          </a:xfrm>
          <a:prstGeom prst="rect">
            <a:avLst/>
          </a:prstGeom>
          <a:solidFill>
            <a:srgbClr val="D8A03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14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C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SAR –.–M ]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25196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goal: [X hosts, Y bookings, Z GMV] across [N] cities — with a repeatable city-launch playbook.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4920" y="2148840"/>
            <a:ext cx="6263640" cy="841248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340864"/>
            <a:ext cx="457200" cy="45720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244144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0" y="227685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 on payments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943600" y="25877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first city end-to-end.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3136392"/>
            <a:ext cx="6263640" cy="841248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03520" y="3328416"/>
            <a:ext cx="457200" cy="45720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3429000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43600" y="326440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 host supply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5943600" y="35753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hard side of the marketplace.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74920" y="4123944"/>
            <a:ext cx="6263640" cy="841248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03520" y="4315968"/>
            <a:ext cx="457200" cy="45720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441655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943600" y="42519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Phase 2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943600" y="45628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Messaging, notifications, reviews at scale.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074920" y="5111496"/>
            <a:ext cx="6263640" cy="841248"/>
          </a:xfrm>
          <a:prstGeom prst="rect">
            <a:avLst/>
          </a:prstGeom>
          <a:solidFill>
            <a:srgbClr val="2A1E12"/>
          </a:solidFill>
          <a:ln w="12700">
            <a:solidFill>
              <a:srgbClr val="3A2C1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303520" y="5303520"/>
            <a:ext cx="457200" cy="457200"/>
          </a:xfrm>
          <a:prstGeom prst="ellipse">
            <a:avLst/>
          </a:prstGeom>
          <a:solidFill>
            <a:srgbClr val="D8A039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540410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43600" y="523951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C1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hires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5943600" y="55504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ops, and 1–2 engineers.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4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0"/>
            <a:ext cx="1755648" cy="1188720"/>
          </a:xfrm>
          <a:prstGeom prst="rect">
            <a:avLst/>
          </a:prstGeom>
          <a:solidFill>
            <a:srgbClr val="241A10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4846320"/>
            <a:ext cx="1755648" cy="2011680"/>
          </a:xfrm>
          <a:prstGeom prst="rect">
            <a:avLst/>
          </a:prstGeom>
          <a:solidFill>
            <a:srgbClr val="2A1E12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5394960"/>
            <a:ext cx="1755648" cy="1463040"/>
          </a:xfrm>
          <a:prstGeom prst="rect">
            <a:avLst/>
          </a:prstGeom>
          <a:solidFill>
            <a:srgbClr val="241A10"/>
          </a:solidFill>
          <a:ln/>
        </p:spPr>
      </p:sp>
      <p:sp>
        <p:nvSpPr>
          <p:cNvPr id="5" name="Shape 3"/>
          <p:cNvSpPr/>
          <p:nvPr/>
        </p:nvSpPr>
        <p:spPr>
          <a:xfrm>
            <a:off x="5212080" y="4389120"/>
            <a:ext cx="1755648" cy="2468880"/>
          </a:xfrm>
          <a:prstGeom prst="rect">
            <a:avLst/>
          </a:prstGeom>
          <a:solidFill>
            <a:srgbClr val="2A1E12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0" y="5120640"/>
            <a:ext cx="1755648" cy="1737360"/>
          </a:xfrm>
          <a:prstGeom prst="rect">
            <a:avLst/>
          </a:prstGeom>
          <a:solidFill>
            <a:srgbClr val="241A10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0" y="4663440"/>
            <a:ext cx="1755648" cy="2194560"/>
          </a:xfrm>
          <a:prstGeom prst="rect">
            <a:avLst/>
          </a:prstGeom>
          <a:solidFill>
            <a:srgbClr val="2A1E12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5577840"/>
            <a:ext cx="1755648" cy="1280160"/>
          </a:xfrm>
          <a:prstGeom prst="rect">
            <a:avLst/>
          </a:prstGeom>
          <a:solidFill>
            <a:srgbClr val="241A1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19050">
            <a:solidFill>
              <a:srgbClr val="D8A039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7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Gharmish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41248" y="25603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i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Arabia is now a destination.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i="1" dirty="0">
                <a:solidFill>
                  <a:srgbClr val="D8A0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We’re how you experience it.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41248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hosts.  Real bookings.  mada &amp; Apple Pay.  Arabic-first.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6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gharmish.com   ·   [ founder@gharmish.com ]   ·   +966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Gharmish — Pitch Deck</dc:title>
  <dc:subject>PptxGenJS Presentation</dc:subject>
  <dc:creator>Gharmish</dc:creator>
  <cp:lastModifiedBy>Gharmish</cp:lastModifiedBy>
  <cp:revision>1</cp:revision>
  <dcterms:created xsi:type="dcterms:W3CDTF">2026-07-08T11:52:27Z</dcterms:created>
  <dcterms:modified xsi:type="dcterms:W3CDTF">2026-07-08T11:52:27Z</dcterms:modified>
</cp:coreProperties>
</file>